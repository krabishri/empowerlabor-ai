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4" r:id="rId8"/>
    <p:sldId id="266" r:id="rId9"/>
    <p:sldId id="268" r:id="rId10"/>
    <p:sldId id="267" r:id="rId11"/>
    <p:sldId id="269" r:id="rId12"/>
    <p:sldId id="272" r:id="rId13"/>
    <p:sldId id="273" r:id="rId14"/>
    <p:sldId id="270" r:id="rId15"/>
    <p:sldId id="274" r:id="rId16"/>
    <p:sldId id="275" r:id="rId17"/>
    <p:sldId id="276" r:id="rId18"/>
    <p:sldId id="271"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r>
              <a:rPr lang="en-US" b="1"/>
              <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974130763"/>
              </p:ext>
            </p:extLst>
          </p:nvPr>
        </p:nvGraphicFramePr>
        <p:xfrm>
          <a:off x="1206162" y="245747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smtClean="0"/>
                        <a:t>KR Abishri</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smtClean="0"/>
                        <a:t>krabishri3@gmail.com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smtClean="0"/>
                        <a:t>9345547546</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Domain of  Project </a:t>
            </a:r>
            <a:r>
              <a:rPr lang="en-US" sz="2400" b="1" i="0" u="none" strike="noStrike" cap="none" dirty="0" smtClean="0">
                <a:solidFill>
                  <a:srgbClr val="000000"/>
                </a:solidFill>
                <a:latin typeface="Arial"/>
                <a:ea typeface="Arial"/>
                <a:cs typeface="Arial"/>
                <a:sym typeface="Arial"/>
              </a:rPr>
              <a:t>–</a:t>
            </a:r>
            <a:r>
              <a:rPr lang="en-US" sz="2400" dirty="0"/>
              <a:t>Livelihood / Social Welfare / Career </a:t>
            </a:r>
            <a:r>
              <a:rPr lang="en-US" sz="2400" dirty="0" smtClean="0"/>
              <a:t>Education</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830956"/>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Project Tile – </a:t>
            </a:r>
            <a:r>
              <a:rPr lang="en-US" sz="2400" dirty="0" err="1"/>
              <a:t>EmpowerLabor</a:t>
            </a:r>
            <a:r>
              <a:rPr lang="en-US" sz="2400" dirty="0"/>
              <a:t> AI: Voice-First Agentic Job Mentor for Informal Workers</a:t>
            </a:r>
            <a:endParaRPr sz="2400" b="1" i="0" u="none" strike="noStrike" cap="none" dirty="0">
              <a:solidFill>
                <a:srgbClr val="000000"/>
              </a:solidFill>
              <a:highlight>
                <a:srgbClr val="FFFF00"/>
              </a:highlight>
              <a:latin typeface="Arial"/>
              <a:ea typeface="Arial"/>
              <a:cs typeface="Arial"/>
              <a:sym typeface="Aria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02243" y="3466499"/>
            <a:ext cx="874265" cy="10864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1057910" cy="4924385"/>
          </a:xfrm>
          <a:prstGeom prst="rect">
            <a:avLst/>
          </a:prstGeom>
          <a:noFill/>
          <a:ln>
            <a:noFill/>
          </a:ln>
        </p:spPr>
        <p:txBody>
          <a:bodyPr spcFirstLastPara="1" wrap="square" lIns="91425" tIns="45700" rIns="91425" bIns="45700" anchor="t" anchorCtr="0">
            <a:spAutoFit/>
          </a:bodyPr>
          <a:lstStyle/>
          <a:p>
            <a:pPr lvl="0"/>
            <a:r>
              <a:rPr lang="en-US" sz="2000" b="1" i="0" u="none" strike="noStrike" cap="none" dirty="0">
                <a:solidFill>
                  <a:srgbClr val="000000"/>
                </a:solidFill>
                <a:sym typeface="Arial"/>
              </a:rPr>
              <a:t>Problem Statement </a:t>
            </a:r>
            <a:r>
              <a:rPr lang="en-US" sz="2000" b="1" i="0" u="none" strike="noStrike" cap="none" dirty="0" smtClean="0">
                <a:solidFill>
                  <a:srgbClr val="000000"/>
                </a:solidFill>
                <a:sym typeface="Arial"/>
              </a:rPr>
              <a:t>:</a:t>
            </a:r>
            <a:r>
              <a:rPr lang="en-IN" sz="2000" dirty="0"/>
              <a:t>Job Mentor for Informal Workers</a:t>
            </a:r>
            <a:endParaRPr sz="2000" b="1" i="0" u="none" strike="noStrike" cap="none" dirty="0">
              <a:solidFill>
                <a:srgbClr val="000000"/>
              </a:solidFill>
              <a:sym typeface="Arial"/>
            </a:endParaRPr>
          </a:p>
          <a:p>
            <a:pPr marL="0" marR="0" lvl="0" indent="0" algn="l" rtl="0">
              <a:lnSpc>
                <a:spcPct val="100000"/>
              </a:lnSpc>
              <a:spcBef>
                <a:spcPts val="0"/>
              </a:spcBef>
              <a:spcAft>
                <a:spcPts val="0"/>
              </a:spcAft>
              <a:buNone/>
            </a:pPr>
            <a:r>
              <a:rPr lang="en-US" sz="2000" b="1" i="0" u="none" strike="noStrike" cap="none" dirty="0">
                <a:solidFill>
                  <a:srgbClr val="000000"/>
                </a:solidFill>
                <a:sym typeface="Arial"/>
              </a:rPr>
              <a:t>The Challenge</a:t>
            </a:r>
            <a:r>
              <a:rPr lang="en-US" sz="2000" b="0" i="0" u="none" strike="noStrike" cap="none" dirty="0">
                <a:solidFill>
                  <a:srgbClr val="000000"/>
                </a:solidFill>
                <a:sym typeface="Arial"/>
              </a:rPr>
              <a:t> </a:t>
            </a:r>
            <a:endParaRPr sz="2000" dirty="0"/>
          </a:p>
          <a:p>
            <a:pPr lvl="0"/>
            <a:r>
              <a:rPr lang="en-US" sz="2000" dirty="0" smtClean="0"/>
              <a:t>Millions </a:t>
            </a:r>
            <a:r>
              <a:rPr lang="en-US" sz="2000" dirty="0"/>
              <a:t>of daily wage laborers, artisans, and gig workers face extreme difficulty accessing local jobs, welfare resources, and skill programs. The severe lack of digital literacy and heavy language barriers in semi-urban communities further widens the opportunity gap</a:t>
            </a:r>
            <a:r>
              <a:rPr lang="en-US" sz="2000" dirty="0" smtClean="0"/>
              <a:t>.</a:t>
            </a:r>
          </a:p>
          <a:p>
            <a:pPr lvl="0"/>
            <a:endParaRPr sz="2000" b="0" i="0" u="none" strike="noStrike" cap="none" dirty="0">
              <a:solidFill>
                <a:srgbClr val="000000"/>
              </a:solidFill>
              <a:sym typeface="Arial"/>
            </a:endParaRPr>
          </a:p>
          <a:p>
            <a:pPr marL="0" marR="0" lvl="0" indent="0" algn="l" rtl="0">
              <a:lnSpc>
                <a:spcPct val="100000"/>
              </a:lnSpc>
              <a:spcBef>
                <a:spcPts val="0"/>
              </a:spcBef>
              <a:spcAft>
                <a:spcPts val="0"/>
              </a:spcAft>
              <a:buNone/>
            </a:pPr>
            <a:r>
              <a:rPr lang="en-US" sz="2000" b="1" i="0" u="none" strike="noStrike" cap="none" dirty="0">
                <a:solidFill>
                  <a:srgbClr val="000000"/>
                </a:solidFill>
                <a:sym typeface="Arial"/>
              </a:rPr>
              <a:t>The Objective</a:t>
            </a:r>
            <a:r>
              <a:rPr lang="en-US" sz="2000" b="0" i="0" u="none" strike="noStrike" cap="none" dirty="0">
                <a:solidFill>
                  <a:srgbClr val="000000"/>
                </a:solidFill>
                <a:sym typeface="Arial"/>
              </a:rPr>
              <a:t> </a:t>
            </a:r>
            <a:endParaRPr sz="2000" dirty="0"/>
          </a:p>
          <a:p>
            <a:pPr marL="285750" lvl="0" indent="-285750">
              <a:buFont typeface="Arial" panose="020B0604020202020204" pitchFamily="34" charset="0"/>
              <a:buChar char="•"/>
            </a:pPr>
            <a:r>
              <a:rPr lang="en-US" sz="2000" dirty="0"/>
              <a:t>The goal is to develop an always-accessible, voice-first AI companion that provides conversational job placement and livelihood advisory services. By transforming structural barriers into a natural conversation, the platform allows workers to state their skills aloud and instantly receive localized opportunities matching their vicinity</a:t>
            </a:r>
            <a:r>
              <a:rPr lang="en-US" sz="2000" dirty="0" smtClean="0"/>
              <a:t>.</a:t>
            </a:r>
          </a:p>
          <a:p>
            <a:pPr marL="285750" lvl="0" indent="-285750">
              <a:buFont typeface="Arial" panose="020B0604020202020204" pitchFamily="34" charset="0"/>
              <a:buChar char="•"/>
            </a:pPr>
            <a:r>
              <a:rPr lang="en-US" sz="2000" dirty="0"/>
              <a:t>The application democratizes access to state aid by acting as a smart translator that converts complex policy documents into simple, actionable steps. By mapping recognized skills directly to open-source learning paths, the system creates an end-to-end economic progression engine tailored specifically for low-literacy communities.</a:t>
            </a:r>
            <a:endParaRPr sz="2000" b="0" i="0" u="none" strike="noStrike" cap="none" dirty="0">
              <a:solidFill>
                <a:srgbClr val="000000"/>
              </a:solidFil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55091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600" b="1" i="0" u="none" strike="noStrike" cap="none" dirty="0">
              <a:solidFill>
                <a:srgbClr val="000000"/>
              </a:solidFill>
              <a:sym typeface="Arial"/>
            </a:endParaRPr>
          </a:p>
          <a:p>
            <a:pPr lvl="0"/>
            <a:r>
              <a:rPr lang="en-US" sz="1600" b="1" i="0" u="none" strike="noStrike" cap="none" dirty="0">
                <a:solidFill>
                  <a:srgbClr val="000000"/>
                </a:solidFill>
                <a:sym typeface="Arial"/>
              </a:rPr>
              <a:t>Proposed Solution: </a:t>
            </a:r>
            <a:r>
              <a:rPr lang="en-IN" sz="1600" b="1" dirty="0"/>
              <a:t>Core Architecture &amp; RAG </a:t>
            </a:r>
            <a:r>
              <a:rPr lang="en-IN" sz="1600" b="1" dirty="0" smtClean="0"/>
              <a:t>Pipeline</a:t>
            </a:r>
          </a:p>
          <a:p>
            <a:pPr lvl="0"/>
            <a:r>
              <a:rPr lang="en-US" sz="1600" dirty="0"/>
              <a:t>The proposed platform delivers an intelligent multi-agent environment managed visually through </a:t>
            </a:r>
            <a:r>
              <a:rPr lang="en-US" sz="1600" dirty="0" err="1"/>
              <a:t>LangFlow</a:t>
            </a:r>
            <a:r>
              <a:rPr lang="en-US" sz="1600" dirty="0"/>
              <a:t> and deployed securely on IBM Cloud infrastructure. At its base, the system uses a high-performance Retrieval-Augmented Generation (RAG) loop that scans verified municipal datasets, local construction notices, and updated welfare circulars. By parsing this information first, the underlying IBM Granite model stays strictly bounded by reality, preventing hallucinations regarding job vacancies or processing fees</a:t>
            </a:r>
            <a:r>
              <a:rPr lang="en-US" sz="1600" dirty="0" smtClean="0"/>
              <a:t>.</a:t>
            </a:r>
          </a:p>
          <a:p>
            <a:pPr lvl="0"/>
            <a:endParaRPr lang="en-US" sz="1600" dirty="0" smtClean="0"/>
          </a:p>
          <a:p>
            <a:pPr lvl="0"/>
            <a:r>
              <a:rPr lang="en-IN" sz="1600" dirty="0"/>
              <a:t>The Four Key </a:t>
            </a:r>
            <a:r>
              <a:rPr lang="en-IN" sz="1600" dirty="0" smtClean="0"/>
              <a:t>Agents:</a:t>
            </a:r>
          </a:p>
          <a:p>
            <a:pPr marL="285750" lvl="0" indent="-285750">
              <a:buFont typeface="Arial" panose="020B0604020202020204" pitchFamily="34" charset="0"/>
              <a:buChar char="•"/>
            </a:pPr>
            <a:r>
              <a:rPr lang="en-US" sz="1600" b="1" dirty="0"/>
              <a:t>Welfare Knowledge Agent:</a:t>
            </a:r>
            <a:r>
              <a:rPr lang="en-US" sz="1600" dirty="0"/>
              <a:t> This agent processes complex regional policies (e.g., PM-</a:t>
            </a:r>
            <a:r>
              <a:rPr lang="en-US" sz="1600" dirty="0" err="1"/>
              <a:t>SVANidhi</a:t>
            </a:r>
            <a:r>
              <a:rPr lang="en-US" sz="1600" dirty="0"/>
              <a:t> loans or pension updates), pulling out the exact eligibility parameters and presenting them to the user in clean, simplified summaries</a:t>
            </a:r>
            <a:r>
              <a:rPr lang="en-US" sz="1600" dirty="0" smtClean="0"/>
              <a:t>.</a:t>
            </a:r>
          </a:p>
          <a:p>
            <a:pPr marL="285750" lvl="0" indent="-285750">
              <a:buFont typeface="Arial" panose="020B0604020202020204" pitchFamily="34" charset="0"/>
              <a:buChar char="•"/>
            </a:pPr>
            <a:r>
              <a:rPr lang="en-US" sz="1600" b="1" dirty="0"/>
              <a:t>Job Recommendation Agent:</a:t>
            </a:r>
            <a:r>
              <a:rPr lang="en-US" sz="1600" dirty="0"/>
              <a:t> This agent acts as a local dispatcher that parses incoming user requests, runs geospatial parameters, and extracts matching neighborhood contract or daily-wage vacancies within a reachable commuting distance</a:t>
            </a:r>
            <a:r>
              <a:rPr lang="en-US" sz="1600" dirty="0" smtClean="0"/>
              <a:t>.</a:t>
            </a:r>
          </a:p>
          <a:p>
            <a:pPr marL="285750" lvl="0" indent="-285750">
              <a:buFont typeface="Arial" panose="020B0604020202020204" pitchFamily="34" charset="0"/>
              <a:buChar char="•"/>
            </a:pPr>
            <a:r>
              <a:rPr lang="en-US" sz="1600" b="1" dirty="0"/>
              <a:t>Upskilling Advisor Agent:</a:t>
            </a:r>
            <a:r>
              <a:rPr lang="en-US" sz="1600" dirty="0"/>
              <a:t> This agent evaluates user capabilities during chat sessions and dynamically suggests free, micro-certification modules on the IBM </a:t>
            </a:r>
            <a:r>
              <a:rPr lang="en-US" sz="1600" dirty="0" err="1"/>
              <a:t>SkillsBuild</a:t>
            </a:r>
            <a:r>
              <a:rPr lang="en-US" sz="1600" dirty="0"/>
              <a:t> platform to help the worker qualify for higher-paying roles</a:t>
            </a:r>
            <a:r>
              <a:rPr lang="en-US" sz="1600" dirty="0" smtClean="0"/>
              <a:t>.</a:t>
            </a:r>
          </a:p>
          <a:p>
            <a:pPr marL="285750" lvl="0" indent="-285750">
              <a:buFont typeface="Arial" panose="020B0604020202020204" pitchFamily="34" charset="0"/>
              <a:buChar char="•"/>
            </a:pPr>
            <a:r>
              <a:rPr lang="en-US" sz="1600" b="1" dirty="0"/>
              <a:t>Voice Log &amp; Profile Agent:</a:t>
            </a:r>
            <a:r>
              <a:rPr lang="en-US" sz="1600" dirty="0"/>
              <a:t> This agent converts spoken inputs into organized database attributes, tracking user history and adjusting the AI's recommendations over time without requiring a paper resume.</a:t>
            </a:r>
            <a:endParaRPr lang="en-IN" sz="1600" dirty="0" smtClean="0"/>
          </a:p>
          <a:p>
            <a:pPr lvl="0"/>
            <a:endParaRPr sz="1600" b="0" i="0" u="none" strike="noStrike" cap="none" dirty="0">
              <a:solidFill>
                <a:srgbClr val="000000"/>
              </a:solidFill>
              <a:sym typeface="Arial"/>
            </a:endParaRPr>
          </a:p>
          <a:p>
            <a:pPr marL="0" marR="0" lvl="0" indent="0" algn="l" rtl="0">
              <a:lnSpc>
                <a:spcPct val="100000"/>
              </a:lnSpc>
              <a:spcBef>
                <a:spcPts val="0"/>
              </a:spcBef>
              <a:spcAft>
                <a:spcPts val="0"/>
              </a:spcAft>
              <a:buNone/>
            </a:pPr>
            <a:endParaRPr sz="1600" b="0" i="0" u="none" strike="noStrike" cap="none" dirty="0">
              <a:solidFill>
                <a:srgbClr val="000000"/>
              </a:solidFill>
              <a:sym typeface="Arial"/>
            </a:endParaRP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5940047"/>
          </a:xfrm>
          <a:prstGeom prst="rect">
            <a:avLst/>
          </a:prstGeom>
          <a:noFill/>
          <a:ln>
            <a:noFill/>
          </a:ln>
        </p:spPr>
        <p:txBody>
          <a:bodyPr spcFirstLastPara="1" wrap="square" lIns="91425" tIns="45700" rIns="91425" bIns="45700" anchor="t" anchorCtr="0">
            <a:spAutoFit/>
          </a:bodyPr>
          <a:lstStyle/>
          <a:p>
            <a:pPr marL="285750" lvl="0" indent="-285750">
              <a:buSzPts val="1800"/>
              <a:buFont typeface="Arial" panose="020B0604020202020204" pitchFamily="34" charset="0"/>
              <a:buChar char="•"/>
            </a:pPr>
            <a:r>
              <a:rPr lang="en-US" sz="2000" b="1" dirty="0" err="1" smtClean="0"/>
              <a:t>LangFlow</a:t>
            </a:r>
            <a:r>
              <a:rPr lang="en-US" sz="2000" b="1" dirty="0" smtClean="0"/>
              <a:t> </a:t>
            </a:r>
            <a:r>
              <a:rPr lang="en-US" sz="2000" b="1" dirty="0"/>
              <a:t>Platform:</a:t>
            </a:r>
            <a:r>
              <a:rPr lang="en-US" sz="2000" dirty="0"/>
              <a:t> Serves as the central nerve system, allowing developers to design complex text-routing logic and connect model inputs to vector data repositories via a visual node </a:t>
            </a:r>
            <a:r>
              <a:rPr lang="en-US" sz="2000" dirty="0" smtClean="0"/>
              <a:t>interface</a:t>
            </a:r>
          </a:p>
          <a:p>
            <a:pPr marL="285750" lvl="0" indent="-285750">
              <a:buSzPts val="1800"/>
              <a:buFont typeface="Arial"/>
              <a:buChar char="•"/>
            </a:pPr>
            <a:endParaRPr sz="2000" b="0" i="0" u="none" strike="noStrike" cap="none" dirty="0">
              <a:solidFill>
                <a:srgbClr val="000000"/>
              </a:solidFill>
              <a:sym typeface="Arial"/>
            </a:endParaRPr>
          </a:p>
          <a:p>
            <a:pPr marL="285750" lvl="0" indent="-285750">
              <a:buSzPts val="1800"/>
              <a:buFont typeface="Arial"/>
              <a:buChar char="•"/>
            </a:pPr>
            <a:r>
              <a:rPr lang="en-US" sz="2000" b="1" i="0" u="none" strike="noStrike" cap="none" dirty="0">
                <a:solidFill>
                  <a:srgbClr val="000000"/>
                </a:solidFill>
                <a:sym typeface="Arial"/>
              </a:rPr>
              <a:t>IBM </a:t>
            </a:r>
            <a:r>
              <a:rPr lang="en-US" sz="2000" b="1" i="0" u="none" strike="noStrike" cap="none" dirty="0" err="1">
                <a:solidFill>
                  <a:srgbClr val="000000"/>
                </a:solidFill>
                <a:sym typeface="Arial"/>
              </a:rPr>
              <a:t>Grainte</a:t>
            </a:r>
            <a:r>
              <a:rPr lang="en-US" sz="2000" b="1" i="0" u="none" strike="noStrike" cap="none" dirty="0">
                <a:solidFill>
                  <a:srgbClr val="000000"/>
                </a:solidFill>
                <a:sym typeface="Arial"/>
              </a:rPr>
              <a:t> model </a:t>
            </a:r>
            <a:r>
              <a:rPr lang="en-US" sz="2000" b="0" i="0" u="none" strike="noStrike" cap="none" dirty="0" smtClean="0">
                <a:solidFill>
                  <a:srgbClr val="000000"/>
                </a:solidFill>
                <a:sym typeface="Arial"/>
              </a:rPr>
              <a:t>-</a:t>
            </a:r>
            <a:r>
              <a:rPr lang="en-IN" sz="2000" dirty="0"/>
              <a:t>Employs the granite-3.2-8b-instruct or </a:t>
            </a:r>
            <a:r>
              <a:rPr lang="en-IN" sz="2000" dirty="0" smtClean="0"/>
              <a:t>granite-4.0-8b-instruct </a:t>
            </a:r>
            <a:r>
              <a:rPr lang="en-US" sz="2000" dirty="0"/>
              <a:t>enterprise models to manage multi-lingual reasoning, intent tracking, and contextual response generation</a:t>
            </a:r>
            <a:r>
              <a:rPr lang="en-US" sz="2000" dirty="0" smtClean="0"/>
              <a:t>.</a:t>
            </a:r>
          </a:p>
          <a:p>
            <a:pPr marL="285750" lvl="0" indent="-285750">
              <a:buSzPts val="1800"/>
              <a:buFont typeface="Arial"/>
              <a:buChar char="•"/>
            </a:pPr>
            <a:endParaRPr lang="en-US" sz="2000" dirty="0"/>
          </a:p>
          <a:p>
            <a:pPr marL="285750" lvl="0" indent="-285750">
              <a:buSzPts val="1800"/>
              <a:buFont typeface="Arial"/>
              <a:buChar char="•"/>
            </a:pPr>
            <a:r>
              <a:rPr lang="en-US" sz="2000" b="1" dirty="0"/>
              <a:t>IBM Watsonx.ai &amp; Cloud Platform:</a:t>
            </a:r>
            <a:r>
              <a:rPr lang="en-US" sz="2000" dirty="0"/>
              <a:t> Provides the secure cloud foundation needed to host the core logic, generate </a:t>
            </a:r>
            <a:r>
              <a:rPr lang="en-US" sz="2000" dirty="0" err="1"/>
              <a:t>embeddings</a:t>
            </a:r>
            <a:r>
              <a:rPr lang="en-US" sz="2000" dirty="0"/>
              <a:t>, and ensure that all user interaction logs comply with strict enterprise data safety rules</a:t>
            </a:r>
            <a:r>
              <a:rPr lang="en-US" sz="2000" dirty="0" smtClean="0"/>
              <a:t>.</a:t>
            </a:r>
          </a:p>
          <a:p>
            <a:pPr marL="285750" lvl="0" indent="-285750">
              <a:buSzPts val="1800"/>
              <a:buFont typeface="Arial"/>
              <a:buChar char="•"/>
            </a:pPr>
            <a:endParaRPr lang="en-US" sz="2000" dirty="0"/>
          </a:p>
          <a:p>
            <a:pPr marL="285750" lvl="0" indent="-285750">
              <a:buSzPts val="1800"/>
              <a:buFont typeface="Arial"/>
              <a:buChar char="•"/>
            </a:pPr>
            <a:r>
              <a:rPr lang="en-US" sz="2000" b="1" dirty="0"/>
              <a:t>Vector Database (</a:t>
            </a:r>
            <a:r>
              <a:rPr lang="en-US" sz="2000" b="1" dirty="0" err="1"/>
              <a:t>ChromaDB</a:t>
            </a:r>
            <a:r>
              <a:rPr lang="en-US" sz="2000" b="1" dirty="0"/>
              <a:t> / FAISS):</a:t>
            </a:r>
            <a:r>
              <a:rPr lang="en-US" sz="2000" dirty="0"/>
              <a:t> Stores and indexes semantic mathematical vectors representing local job registries and state aid program requirements for rapid contextual search execution.</a:t>
            </a:r>
          </a:p>
          <a:p>
            <a:pPr marL="285750" lvl="0" indent="-285750">
              <a:buSzPts val="1800"/>
              <a:buFont typeface="Arial"/>
              <a:buChar char="•"/>
            </a:pPr>
            <a:endParaRPr sz="2000" b="0" i="0" u="none" strike="noStrike" cap="none" dirty="0">
              <a:solidFill>
                <a:srgbClr val="000000"/>
              </a:solidFill>
              <a:sym typeface="Arial"/>
            </a:endParaRPr>
          </a:p>
          <a:p>
            <a:pPr marL="285750" marR="0" lvl="0" indent="-171450" algn="l" rtl="0">
              <a:lnSpc>
                <a:spcPct val="100000"/>
              </a:lnSpc>
              <a:spcBef>
                <a:spcPts val="0"/>
              </a:spcBef>
              <a:spcAft>
                <a:spcPts val="0"/>
              </a:spcAft>
              <a:buClr>
                <a:srgbClr val="000000"/>
              </a:buClr>
              <a:buSzPts val="1800"/>
              <a:buFont typeface="Arial"/>
              <a:buNone/>
            </a:pPr>
            <a:endParaRPr sz="2000" b="0" i="0" u="none" strike="noStrike" cap="none" dirty="0">
              <a:solidFill>
                <a:srgbClr val="000000"/>
              </a:solidFill>
              <a:sym typeface="Arial"/>
            </a:endParaRPr>
          </a:p>
          <a:p>
            <a:pPr marL="0" marR="0" lvl="0" indent="0" algn="l" rtl="0">
              <a:lnSpc>
                <a:spcPct val="100000"/>
              </a:lnSpc>
              <a:spcBef>
                <a:spcPts val="0"/>
              </a:spcBef>
              <a:spcAft>
                <a:spcPts val="0"/>
              </a:spcAft>
              <a:buNone/>
            </a:pPr>
            <a:endParaRPr sz="2000" b="0" i="0" u="none" strike="noStrike" cap="none" dirty="0">
              <a:solidFill>
                <a:srgbClr val="000000"/>
              </a:solidFill>
              <a:sym typeface="Arial"/>
            </a:endParaRPr>
          </a:p>
          <a:p>
            <a:pPr marL="0" marR="0" lvl="0" indent="0" algn="l" rtl="0">
              <a:lnSpc>
                <a:spcPct val="100000"/>
              </a:lnSpc>
              <a:spcBef>
                <a:spcPts val="0"/>
              </a:spcBef>
              <a:spcAft>
                <a:spcPts val="0"/>
              </a:spcAft>
              <a:buNone/>
            </a:pPr>
            <a:endParaRPr sz="2000" b="0" i="0" u="none" strike="noStrike" cap="none" dirty="0">
              <a:solidFill>
                <a:srgbClr val="000000"/>
              </a:solidFil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 Used -</a:t>
            </a:r>
            <a:endParaRPr sz="2400" b="1" i="0" u="none" strike="noStrike" cap="none">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1" y="863187"/>
            <a:ext cx="10005609" cy="621704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Font typeface="Arial" panose="020B0604020202020204" pitchFamily="34" charset="0"/>
              <a:buChar char="•"/>
            </a:pPr>
            <a:endParaRPr sz="2000" b="0" i="0" u="none" strike="noStrike" cap="none" dirty="0">
              <a:solidFill>
                <a:srgbClr val="000000"/>
              </a:solidFill>
              <a:sym typeface="Arial"/>
            </a:endParaRPr>
          </a:p>
          <a:p>
            <a:pPr marL="285750" indent="-285750">
              <a:buFont typeface="Arial" panose="020B0604020202020204" pitchFamily="34" charset="0"/>
              <a:buChar char="•"/>
            </a:pPr>
            <a:endParaRPr lang="en-US" sz="2000" dirty="0"/>
          </a:p>
          <a:p>
            <a:pPr marL="285750" lvl="1" indent="-285750">
              <a:buFont typeface="Arial" panose="020B0604020202020204" pitchFamily="34" charset="0"/>
              <a:buChar char="•"/>
            </a:pPr>
            <a:r>
              <a:rPr lang="en-US" sz="2000" b="1" dirty="0"/>
              <a:t>Chat Input &amp; Output Nodes:</a:t>
            </a:r>
            <a:r>
              <a:rPr lang="en-US" sz="2000" dirty="0"/>
              <a:t> Controls the interface boundaries; the input node catches user voice inputs converted to text, while the output node returns clean markdown strings designed to feed text-to-speech voice tools.</a:t>
            </a:r>
          </a:p>
          <a:p>
            <a:pPr marL="285750" lvl="1" indent="-285750">
              <a:buFont typeface="Arial" panose="020B0604020202020204" pitchFamily="34" charset="0"/>
              <a:buChar char="•"/>
            </a:pPr>
            <a:r>
              <a:rPr lang="en-US" sz="2000" b="1" dirty="0"/>
              <a:t>IBM </a:t>
            </a:r>
            <a:r>
              <a:rPr lang="en-US" sz="2000" b="1" dirty="0" err="1"/>
              <a:t>Watsonx</a:t>
            </a:r>
            <a:r>
              <a:rPr lang="en-US" sz="2000" b="1" dirty="0"/>
              <a:t> AI Component:</a:t>
            </a:r>
            <a:r>
              <a:rPr lang="en-US" sz="2000" dirty="0"/>
              <a:t> Hosts the system prompt wrapper and manages live API requests directly to the deployed IBM Granite instance using secure cloud tokens.</a:t>
            </a:r>
          </a:p>
          <a:p>
            <a:pPr marL="285750" lvl="1" indent="-285750">
              <a:buFont typeface="Arial" panose="020B0604020202020204" pitchFamily="34" charset="0"/>
              <a:buChar char="•"/>
            </a:pPr>
            <a:r>
              <a:rPr lang="en-US" sz="2000" b="1" dirty="0"/>
              <a:t>File Component &amp; Directory Loader:</a:t>
            </a:r>
            <a:r>
              <a:rPr lang="en-US" sz="2000" dirty="0"/>
              <a:t> Functions as the local database manager, feeding updated text files containing verified job openings and training course descriptions directly into the application.</a:t>
            </a:r>
          </a:p>
          <a:p>
            <a:pPr marL="285750" lvl="1" indent="-285750">
              <a:buFont typeface="Arial" panose="020B0604020202020204" pitchFamily="34" charset="0"/>
              <a:buChar char="•"/>
            </a:pPr>
            <a:r>
              <a:rPr lang="en-US" sz="2000" b="1" dirty="0"/>
              <a:t>Vector Store Retriever:</a:t>
            </a:r>
            <a:r>
              <a:rPr lang="en-US" sz="2000" dirty="0"/>
              <a:t> Acts as an information filter, matching user search terms with indexed data blocks and forwarding the extracted facts straight to the LLM context window</a:t>
            </a:r>
            <a:r>
              <a:rPr lang="en-US" sz="2000" dirty="0" smtClean="0"/>
              <a:t>.</a:t>
            </a:r>
            <a:endParaRPr lang="en-US" sz="2000" b="1" dirty="0"/>
          </a:p>
          <a:p>
            <a:pPr marL="374650" marR="0" lvl="0" indent="-285750" algn="l" rtl="0">
              <a:lnSpc>
                <a:spcPct val="100000"/>
              </a:lnSpc>
              <a:spcBef>
                <a:spcPts val="0"/>
              </a:spcBef>
              <a:spcAft>
                <a:spcPts val="0"/>
              </a:spcAft>
              <a:buClr>
                <a:srgbClr val="000000"/>
              </a:buClr>
              <a:buSzPts val="1400"/>
              <a:buFont typeface="Arial" panose="020B0604020202020204" pitchFamily="34" charset="0"/>
              <a:buChar char="•"/>
            </a:pPr>
            <a:endParaRPr sz="2000" b="0" i="0" u="none" strike="noStrike" cap="none" dirty="0">
              <a:solidFill>
                <a:srgbClr val="000000"/>
              </a:solidFil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621792" y="1167493"/>
            <a:ext cx="7406640" cy="4708941"/>
          </a:xfrm>
          <a:prstGeom prst="rect">
            <a:avLst/>
          </a:prstGeom>
          <a:noFill/>
          <a:ln>
            <a:noFill/>
          </a:ln>
        </p:spPr>
        <p:txBody>
          <a:bodyPr spcFirstLastPara="1" wrap="square" lIns="91425" tIns="45700" rIns="91425" bIns="45700" anchor="t" anchorCtr="0">
            <a:spAutoFit/>
          </a:bodyPr>
          <a:lstStyle/>
          <a:p>
            <a:pPr lvl="0"/>
            <a:r>
              <a:rPr lang="en-IN" sz="2000" b="1" dirty="0"/>
              <a:t>Autonomous Logic &amp; </a:t>
            </a:r>
            <a:r>
              <a:rPr lang="en-IN" sz="2000" b="1" dirty="0" smtClean="0"/>
              <a:t>Adaptation</a:t>
            </a:r>
          </a:p>
          <a:p>
            <a:pPr lvl="0"/>
            <a:endParaRPr lang="en-US" sz="2000" b="1" dirty="0" smtClean="0"/>
          </a:p>
          <a:p>
            <a:pPr marL="285750" lvl="0" indent="-285750">
              <a:buFont typeface="Arial" panose="020B0604020202020204" pitchFamily="34" charset="0"/>
              <a:buChar char="•"/>
            </a:pPr>
            <a:r>
              <a:rPr lang="en-US" sz="2000" dirty="0"/>
              <a:t>Unlike traditional static </a:t>
            </a:r>
            <a:r>
              <a:rPr lang="en-US" sz="2000" dirty="0" err="1"/>
              <a:t>chatbots</a:t>
            </a:r>
            <a:r>
              <a:rPr lang="en-US" sz="2000" dirty="0"/>
              <a:t> that follow rigid script menus, Agentic AI introduces autonomous reasoning powered by IBM Granite. When a user describes a financial hardship, the system evaluates the root problem, separates it into sub-tasks, and schedules coordination across multiple specialized agents</a:t>
            </a:r>
            <a:r>
              <a:rPr lang="en-US" sz="2000" dirty="0" smtClean="0"/>
              <a:t>.</a:t>
            </a:r>
          </a:p>
          <a:p>
            <a:pPr marL="285750" lvl="0" indent="-285750">
              <a:buFont typeface="Arial" panose="020B0604020202020204" pitchFamily="34" charset="0"/>
              <a:buChar char="•"/>
            </a:pPr>
            <a:r>
              <a:rPr lang="en-US" sz="2000" dirty="0"/>
              <a:t>The system exhibits high contextual awareness, remembering details like localized dialects, regional constraints, and target daily wage minimums. Because these agents communicate with one another behind the scenes, the platform can automatically trigger a skill development recommendation the moment it detects a worker is missing a certification for a local job listing.</a:t>
            </a:r>
            <a:endParaRPr lang="en-IN" sz="2000" b="1"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777240" y="1207008"/>
            <a:ext cx="10631658" cy="3785611"/>
          </a:xfrm>
          <a:prstGeom prst="rect">
            <a:avLst/>
          </a:prstGeom>
          <a:noFill/>
          <a:ln>
            <a:noFill/>
          </a:ln>
        </p:spPr>
        <p:txBody>
          <a:bodyPr spcFirstLastPara="1" wrap="square" lIns="91425" tIns="45700" rIns="91425" bIns="45700" anchor="t" anchorCtr="0">
            <a:spAutoFit/>
          </a:bodyPr>
          <a:lstStyle/>
          <a:p>
            <a:pPr lvl="0"/>
            <a:r>
              <a:rPr lang="en-IN" sz="2000" b="1" dirty="0"/>
              <a:t>Value Proposition &amp; </a:t>
            </a:r>
            <a:r>
              <a:rPr lang="en-IN" sz="2000" b="1" dirty="0" smtClean="0"/>
              <a:t>Innovations-</a:t>
            </a:r>
          </a:p>
          <a:p>
            <a:pPr lvl="0"/>
            <a:endParaRPr sz="2000" b="0" i="0" u="none" strike="noStrike" cap="none" dirty="0">
              <a:solidFill>
                <a:srgbClr val="000000"/>
              </a:solidFill>
              <a:sym typeface="Arial"/>
            </a:endParaRPr>
          </a:p>
          <a:p>
            <a:pPr marL="285750" lvl="0" indent="-285750">
              <a:buFont typeface="Arial" panose="020B0604020202020204" pitchFamily="34" charset="0"/>
              <a:buChar char="•"/>
            </a:pPr>
            <a:r>
              <a:rPr lang="en-US" sz="2000" b="1" dirty="0"/>
              <a:t>The Voice-First RAG Framework:</a:t>
            </a:r>
            <a:r>
              <a:rPr lang="en-US" sz="2000" dirty="0"/>
              <a:t> Most conversational AI portals return long blocks of text that overwhelm users. This solution passes filtered information into specialized text-to-speech layers, making the app function like a natural telephone call</a:t>
            </a:r>
            <a:r>
              <a:rPr lang="en-US" sz="2000" dirty="0" smtClean="0"/>
              <a:t>.</a:t>
            </a:r>
          </a:p>
          <a:p>
            <a:pPr marL="285750" lvl="0" indent="-285750">
              <a:buFont typeface="Arial" panose="020B0604020202020204" pitchFamily="34" charset="0"/>
              <a:buChar char="•"/>
            </a:pPr>
            <a:r>
              <a:rPr lang="en-US" sz="2000" b="1" dirty="0"/>
              <a:t>Granite-Driven Guardrails:</a:t>
            </a:r>
            <a:r>
              <a:rPr lang="en-US" sz="2000" dirty="0"/>
              <a:t> Financial fraud targeting informal workers is common. By leveraging the strict safety and reasoning parameters of IBM Granite, the system ensures that information regarding government financial benefits stays factually accurate</a:t>
            </a:r>
            <a:r>
              <a:rPr lang="en-US" sz="2000" dirty="0" smtClean="0"/>
              <a:t>.</a:t>
            </a:r>
          </a:p>
          <a:p>
            <a:pPr marL="285750" lvl="0" indent="-285750">
              <a:buFont typeface="Arial" panose="020B0604020202020204" pitchFamily="34" charset="0"/>
              <a:buChar char="•"/>
            </a:pPr>
            <a:r>
              <a:rPr lang="en-US" sz="2000" b="1" dirty="0"/>
              <a:t>Integrated Growth Ecosystem:</a:t>
            </a:r>
            <a:r>
              <a:rPr lang="en-US" sz="2000" dirty="0"/>
              <a:t> The platform breaks down the walls between job searching and education. It creates an active support cycle where an artisan can discover a job, find the exact skill gap they have, and start learning on IBM </a:t>
            </a:r>
            <a:r>
              <a:rPr lang="en-US" sz="2000" dirty="0" err="1"/>
              <a:t>SkillsBuild</a:t>
            </a:r>
            <a:r>
              <a:rPr lang="en-US" sz="2000" dirty="0"/>
              <a:t> within a single app session.</a:t>
            </a:r>
            <a:endParaRPr sz="2000" b="0" i="0" u="none" strike="noStrike" cap="none" dirty="0">
              <a:solidFill>
                <a:srgbClr val="000000"/>
              </a:solidFil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2000" dirty="0"/>
              <a:t>Scalability &amp; Strategic </a:t>
            </a:r>
            <a:r>
              <a:rPr lang="en-IN" sz="2000" dirty="0" smtClean="0"/>
              <a:t>Growth</a:t>
            </a:r>
            <a:endParaRPr lang="en-US" sz="2000" b="0" i="0" u="none" strike="noStrike" cap="none" dirty="0">
              <a:solidFill>
                <a:srgbClr val="000000"/>
              </a:solidFill>
              <a:latin typeface="Times New Roman"/>
              <a:ea typeface="Times New Roman"/>
              <a:cs typeface="Times New Roman"/>
              <a:sym typeface="Times New Roman"/>
            </a:endParaRPr>
          </a:p>
          <a:p>
            <a:pPr marL="342900" lvl="0" indent="-342900">
              <a:lnSpc>
                <a:spcPct val="162162"/>
              </a:lnSpc>
              <a:buClr>
                <a:srgbClr val="2B3541"/>
              </a:buClr>
              <a:buSzPts val="1850"/>
              <a:buFont typeface="Arial" panose="020B0604020202020204" pitchFamily="34" charset="0"/>
              <a:buChar char="•"/>
            </a:pPr>
            <a:r>
              <a:rPr lang="en-US" sz="2000" b="1" dirty="0"/>
              <a:t>WhatsApp &amp; IVR Voice Integration:</a:t>
            </a:r>
            <a:r>
              <a:rPr lang="en-US" sz="2000" dirty="0"/>
              <a:t> Expanding access to non-smartphone users via automated toll-free telephone dials and direct WhatsApp audio channels</a:t>
            </a:r>
            <a:r>
              <a:rPr lang="en-US" sz="2000" dirty="0" smtClean="0"/>
              <a:t>.</a:t>
            </a:r>
          </a:p>
          <a:p>
            <a:pPr marL="342900" lvl="0" indent="-342900">
              <a:lnSpc>
                <a:spcPct val="162162"/>
              </a:lnSpc>
              <a:buClr>
                <a:srgbClr val="2B3541"/>
              </a:buClr>
              <a:buSzPts val="1850"/>
              <a:buFont typeface="Arial" panose="020B0604020202020204" pitchFamily="34" charset="0"/>
              <a:buChar char="•"/>
            </a:pPr>
            <a:r>
              <a:rPr lang="en-US" sz="2000" b="1" dirty="0"/>
              <a:t>Automated Micro-Credentials:</a:t>
            </a:r>
            <a:r>
              <a:rPr lang="en-US" sz="2000" dirty="0"/>
              <a:t> Auto-issuing digital skill badges to profiles as soon as the agent confirms course completion via IBM </a:t>
            </a:r>
            <a:r>
              <a:rPr lang="en-US" sz="2000" dirty="0" err="1"/>
              <a:t>SkillsBuild</a:t>
            </a:r>
            <a:r>
              <a:rPr lang="en-US" sz="2000" dirty="0" smtClean="0"/>
              <a:t>.</a:t>
            </a:r>
          </a:p>
          <a:p>
            <a:pPr marL="342900" lvl="0" indent="-342900">
              <a:lnSpc>
                <a:spcPct val="162162"/>
              </a:lnSpc>
              <a:buClr>
                <a:srgbClr val="2B3541"/>
              </a:buClr>
              <a:buSzPts val="1850"/>
              <a:buFont typeface="Arial" panose="020B0604020202020204" pitchFamily="34" charset="0"/>
              <a:buChar char="•"/>
            </a:pPr>
            <a:r>
              <a:rPr lang="en-US" sz="2000" b="1" dirty="0"/>
              <a:t>Micro-Finance Linkage:</a:t>
            </a:r>
            <a:r>
              <a:rPr lang="en-US" sz="2000" dirty="0"/>
              <a:t> Connecting pre-verified users straight to localized banking systems for direct welfare financial assistance.</a:t>
            </a:r>
            <a:endParaRPr lang="en-US" sz="2000" dirty="0" smtClean="0"/>
          </a:p>
          <a:p>
            <a:pPr marL="342900" lvl="0" indent="-342900">
              <a:lnSpc>
                <a:spcPct val="162162"/>
              </a:lnSpc>
              <a:buClr>
                <a:srgbClr val="2B3541"/>
              </a:buClr>
              <a:buSzPts val="1850"/>
              <a:buFont typeface="Arial" panose="020B0604020202020204" pitchFamily="34" charset="0"/>
              <a:buChar char="•"/>
            </a:pPr>
            <a:endParaRPr sz="1850" b="0" i="0" u="none" strike="noStrike" cap="none" dirty="0">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1617197"/>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endParaRPr dirty="0"/>
          </a:p>
          <a:p>
            <a:pPr lvl="0">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Please test and Paste the working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URL </a:t>
            </a:r>
            <a:r>
              <a:rPr lang="en-US" sz="1850" dirty="0" smtClean="0">
                <a:solidFill>
                  <a:srgbClr val="2B3541"/>
                </a:solidFill>
                <a:latin typeface="Times New Roman"/>
                <a:ea typeface="Times New Roman"/>
                <a:cs typeface="Times New Roman"/>
                <a:sym typeface="Times New Roman"/>
              </a:rPr>
              <a:t>– https</a:t>
            </a:r>
            <a:r>
              <a:rPr lang="en-US" sz="1850" dirty="0">
                <a:solidFill>
                  <a:srgbClr val="2B3541"/>
                </a:solidFill>
                <a:latin typeface="Times New Roman"/>
                <a:ea typeface="Times New Roman"/>
                <a:cs typeface="Times New Roman"/>
                <a:sym typeface="Times New Roman"/>
              </a:rPr>
              <a:t>://github.com/krabishri/EmpowerLabor-AI</a:t>
            </a:r>
            <a:endParaRPr dirty="0"/>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2" name="Picture 1"/>
          <p:cNvPicPr>
            <a:picLocks noChangeAspect="1"/>
          </p:cNvPicPr>
          <p:nvPr/>
        </p:nvPicPr>
        <p:blipFill>
          <a:blip r:embed="rId3"/>
          <a:stretch>
            <a:fillRect/>
          </a:stretch>
        </p:blipFill>
        <p:spPr>
          <a:xfrm>
            <a:off x="2634693" y="2976041"/>
            <a:ext cx="6382641" cy="283884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317" y="742096"/>
            <a:ext cx="8021169" cy="61159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9606" y="417570"/>
            <a:ext cx="7954485" cy="6163535"/>
          </a:xfrm>
          <a:prstGeom prst="rect">
            <a:avLst/>
          </a:prstGeom>
        </p:spPr>
      </p:pic>
    </p:spTree>
    <p:extLst>
      <p:ext uri="{BB962C8B-B14F-4D97-AF65-F5344CB8AC3E}">
        <p14:creationId xmlns:p14="http://schemas.microsoft.com/office/powerpoint/2010/main" val="2623625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9705" y="356759"/>
            <a:ext cx="7992590" cy="6144482"/>
          </a:xfrm>
          <a:prstGeom prst="rect">
            <a:avLst/>
          </a:prstGeom>
        </p:spPr>
      </p:pic>
    </p:spTree>
    <p:extLst>
      <p:ext uri="{BB962C8B-B14F-4D97-AF65-F5344CB8AC3E}">
        <p14:creationId xmlns:p14="http://schemas.microsoft.com/office/powerpoint/2010/main" val="339489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smtClean="0">
                <a:solidFill>
                  <a:srgbClr val="000000"/>
                </a:solidFill>
                <a:latin typeface="Arial"/>
                <a:ea typeface="Arial"/>
                <a:cs typeface="Arial"/>
                <a:sym typeface="Arial"/>
              </a:rPr>
              <a:t>IBM </a:t>
            </a:r>
            <a:r>
              <a:rPr lang="en-US" sz="2000" b="1" i="0" u="none" strike="noStrike" cap="none" dirty="0">
                <a:solidFill>
                  <a:srgbClr val="000000"/>
                </a:solidFill>
                <a:latin typeface="Arial"/>
                <a:ea typeface="Arial"/>
                <a:cs typeface="Arial"/>
                <a:sym typeface="Arial"/>
              </a:rPr>
              <a:t>BOB Certificate</a:t>
            </a: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2018" y="1477578"/>
            <a:ext cx="8145012" cy="521090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4441" y="809259"/>
            <a:ext cx="8183117" cy="5239481"/>
          </a:xfrm>
          <a:prstGeom prst="rect">
            <a:avLst/>
          </a:prstGeom>
        </p:spPr>
      </p:pic>
    </p:spTree>
    <p:extLst>
      <p:ext uri="{BB962C8B-B14F-4D97-AF65-F5344CB8AC3E}">
        <p14:creationId xmlns:p14="http://schemas.microsoft.com/office/powerpoint/2010/main" val="99039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8257" y="818785"/>
            <a:ext cx="8135485" cy="5220429"/>
          </a:xfrm>
          <a:prstGeom prst="rect">
            <a:avLst/>
          </a:prstGeom>
        </p:spPr>
      </p:pic>
    </p:spTree>
    <p:extLst>
      <p:ext uri="{BB962C8B-B14F-4D97-AF65-F5344CB8AC3E}">
        <p14:creationId xmlns:p14="http://schemas.microsoft.com/office/powerpoint/2010/main" val="260221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9204" y="709233"/>
            <a:ext cx="8173591" cy="5439534"/>
          </a:xfrm>
          <a:prstGeom prst="rect">
            <a:avLst/>
          </a:prstGeom>
        </p:spPr>
      </p:pic>
    </p:spTree>
    <p:extLst>
      <p:ext uri="{BB962C8B-B14F-4D97-AF65-F5344CB8AC3E}">
        <p14:creationId xmlns:p14="http://schemas.microsoft.com/office/powerpoint/2010/main" val="2942758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TotalTime>
  <Words>912</Words>
  <Application>Microsoft Office PowerPoint</Application>
  <PresentationFormat>Widescreen</PresentationFormat>
  <Paragraphs>83</Paragraphs>
  <Slides>18</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University Engagement Project Submission</dc:title>
  <dc:creator>Manda Anirudh</dc:creator>
  <cp:lastModifiedBy>Abishri K R</cp:lastModifiedBy>
  <cp:revision>7</cp:revision>
  <dcterms:created xsi:type="dcterms:W3CDTF">2025-07-08T05:06:56Z</dcterms:created>
  <dcterms:modified xsi:type="dcterms:W3CDTF">2026-07-12T09:05:47Z</dcterms:modified>
</cp:coreProperties>
</file>